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  <p:sldId id="265" r:id="rId7"/>
    <p:sldId id="268" r:id="rId8"/>
    <p:sldId id="270" r:id="rId9"/>
    <p:sldId id="271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006765"/>
            <a:ext cx="6968838" cy="3971634"/>
          </a:xfrm>
        </p:spPr>
        <p:txBody>
          <a:bodyPr/>
          <a:lstStyle/>
          <a:p>
            <a:r>
              <a:rPr lang="en-US" sz="8000" b="1" dirty="0" smtClean="0">
                <a:solidFill>
                  <a:schemeClr val="accent5"/>
                </a:solidFill>
              </a:rPr>
              <a:t>Employment Prediction </a:t>
            </a:r>
            <a:r>
              <a:rPr lang="en-US" sz="8000" b="1" dirty="0" err="1" smtClean="0">
                <a:solidFill>
                  <a:schemeClr val="accent5"/>
                </a:solidFill>
              </a:rPr>
              <a:t>DataSet</a:t>
            </a:r>
            <a:endParaRPr lang="en-IN" sz="8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1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Objective:</a:t>
            </a:r>
            <a:r>
              <a:rPr lang="en-US" sz="3200" dirty="0"/>
              <a:t> Predict </a:t>
            </a:r>
            <a:r>
              <a:rPr lang="en-US" sz="3200" b="1" dirty="0"/>
              <a:t>employment status</a:t>
            </a:r>
            <a:r>
              <a:rPr lang="en-US" sz="3200" dirty="0"/>
              <a:t> and analyze key factors </a:t>
            </a:r>
            <a:r>
              <a:rPr lang="en-US" sz="3200" dirty="0" smtClean="0"/>
              <a:t>affecting </a:t>
            </a:r>
            <a:r>
              <a:rPr lang="en-US" sz="3200" dirty="0"/>
              <a:t>job </a:t>
            </a:r>
            <a:r>
              <a:rPr lang="en-US" sz="3200" dirty="0" smtClean="0"/>
              <a:t>opportunities.</a:t>
            </a:r>
          </a:p>
          <a:p>
            <a:r>
              <a:rPr lang="en-US" sz="3200" b="1" dirty="0" smtClean="0"/>
              <a:t>Total </a:t>
            </a:r>
            <a:r>
              <a:rPr lang="en-US" sz="3200" b="1" dirty="0"/>
              <a:t>Rows:</a:t>
            </a:r>
            <a:r>
              <a:rPr lang="en-US" sz="3200" dirty="0"/>
              <a:t> </a:t>
            </a:r>
            <a:r>
              <a:rPr lang="en-US" sz="3200" b="1" dirty="0"/>
              <a:t>73,462</a:t>
            </a:r>
            <a:r>
              <a:rPr lang="en-US" sz="3200" dirty="0"/>
              <a:t> (</a:t>
            </a:r>
            <a:r>
              <a:rPr lang="en-US" sz="3200" dirty="0" smtClean="0"/>
              <a:t>Observations)</a:t>
            </a:r>
          </a:p>
          <a:p>
            <a:r>
              <a:rPr lang="en-US" sz="3200" b="1" dirty="0" smtClean="0"/>
              <a:t>Total </a:t>
            </a:r>
            <a:r>
              <a:rPr lang="en-US" sz="3200" b="1" dirty="0"/>
              <a:t>Columns:</a:t>
            </a:r>
            <a:r>
              <a:rPr lang="en-US" sz="3200" dirty="0"/>
              <a:t> </a:t>
            </a:r>
            <a:r>
              <a:rPr lang="en-US" sz="3200" b="1" dirty="0"/>
              <a:t>15</a:t>
            </a:r>
            <a:r>
              <a:rPr lang="en-US" sz="3200" dirty="0"/>
              <a:t> (Features</a:t>
            </a:r>
            <a:r>
              <a:rPr lang="en-US" sz="3200" dirty="0" smtClean="0"/>
              <a:t>)</a:t>
            </a:r>
          </a:p>
          <a:p>
            <a:r>
              <a:rPr lang="en-US" sz="3200" b="1" dirty="0"/>
              <a:t>Target Variable:</a:t>
            </a:r>
            <a:r>
              <a:rPr lang="en-US" sz="3200" dirty="0"/>
              <a:t> </a:t>
            </a:r>
            <a:r>
              <a:rPr lang="en-US" sz="3200" b="1" dirty="0"/>
              <a:t>Employed</a:t>
            </a:r>
            <a:r>
              <a:rPr lang="en-US" sz="3200" dirty="0"/>
              <a:t> (Employment Status)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76407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74256"/>
            <a:ext cx="9601196" cy="1413162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Key Features in the Dataset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637" y="2429164"/>
            <a:ext cx="10446328" cy="38238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Age</a:t>
            </a:r>
            <a:r>
              <a:rPr lang="en-IN" b="1" dirty="0"/>
              <a:t>:</a:t>
            </a:r>
            <a:r>
              <a:rPr lang="en-IN" dirty="0"/>
              <a:t> Respondent’s </a:t>
            </a:r>
            <a:r>
              <a:rPr lang="en-IN" dirty="0" smtClean="0"/>
              <a:t>age(&lt;35,&gt;35)</a:t>
            </a:r>
            <a:endParaRPr lang="en-IN" dirty="0"/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Gender</a:t>
            </a:r>
            <a:r>
              <a:rPr lang="en-US" dirty="0" smtClean="0"/>
              <a:t>:</a:t>
            </a:r>
            <a:r>
              <a:rPr lang="en-IN" dirty="0" smtClean="0"/>
              <a:t>Gender identity(Male ,Female  and  </a:t>
            </a:r>
            <a:r>
              <a:rPr lang="en-IN" dirty="0" err="1" smtClean="0"/>
              <a:t>Nonbinary</a:t>
            </a:r>
            <a:r>
              <a:rPr lang="en-IN" dirty="0" smtClean="0"/>
              <a:t> )</a:t>
            </a:r>
          </a:p>
          <a:p>
            <a:pPr marL="0" indent="0">
              <a:buNone/>
            </a:pPr>
            <a:r>
              <a:rPr lang="en-IN" dirty="0" err="1" smtClean="0">
                <a:solidFill>
                  <a:srgbClr val="7030A0"/>
                </a:solidFill>
              </a:rPr>
              <a:t>Accessibility:</a:t>
            </a:r>
            <a:r>
              <a:rPr lang="en-IN" dirty="0" err="1"/>
              <a:t>Whether</a:t>
            </a:r>
            <a:r>
              <a:rPr lang="en-IN" dirty="0"/>
              <a:t> a candidate can easily access work opportunities (Technology, transport, or other necessary facilities</a:t>
            </a:r>
            <a:r>
              <a:rPr lang="en-IN" dirty="0" smtClean="0"/>
              <a:t>)</a:t>
            </a:r>
            <a:endParaRPr lang="en-I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Country</a:t>
            </a:r>
            <a:r>
              <a:rPr lang="en-US" dirty="0" smtClean="0"/>
              <a:t>:</a:t>
            </a:r>
            <a:r>
              <a:rPr lang="en-IN" dirty="0"/>
              <a:t>Country of </a:t>
            </a:r>
            <a:r>
              <a:rPr lang="en-IN" dirty="0" smtClean="0"/>
              <a:t>residence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 Mental Health :</a:t>
            </a:r>
            <a:endParaRPr lang="en-IN" dirty="0" smtClean="0"/>
          </a:p>
          <a:p>
            <a:pPr marL="0" indent="0">
              <a:buNone/>
            </a:pPr>
            <a:r>
              <a:rPr lang="en-IN" sz="2800" dirty="0">
                <a:solidFill>
                  <a:schemeClr val="accent6"/>
                </a:solidFill>
              </a:rPr>
              <a:t>Education &amp; Experience</a:t>
            </a:r>
            <a:r>
              <a:rPr lang="en-IN" sz="2800" dirty="0" smtClean="0"/>
              <a:t>: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 Ed Level </a:t>
            </a:r>
            <a:r>
              <a:rPr lang="en-US" dirty="0" smtClean="0"/>
              <a:t>:</a:t>
            </a:r>
            <a:r>
              <a:rPr lang="en-US" altLang="en-US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/>
              <a:t>Highest level of education (e.g., Bachelor's, Master's, </a:t>
            </a:r>
            <a:r>
              <a:rPr lang="en-US" altLang="en-US" dirty="0" smtClean="0"/>
              <a:t>PhD</a:t>
            </a:r>
            <a:r>
              <a:rPr lang="en-US" altLang="en-US" sz="2000" b="1" i="1" dirty="0" smtClean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 marL="0" lv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 Years Code </a:t>
            </a:r>
            <a:r>
              <a:rPr lang="en-US" dirty="0" smtClean="0"/>
              <a:t>:</a:t>
            </a:r>
            <a:r>
              <a:rPr lang="en-US" altLang="en-US" dirty="0"/>
              <a:t>Total years of coding </a:t>
            </a:r>
            <a:r>
              <a:rPr lang="en-US" altLang="en-US" dirty="0" smtClean="0"/>
              <a:t>experience</a:t>
            </a:r>
          </a:p>
          <a:p>
            <a:pPr marL="0" lvl="0" indent="0">
              <a:buNone/>
            </a:pPr>
            <a:r>
              <a:rPr lang="en-US" altLang="en-US" dirty="0" smtClean="0">
                <a:solidFill>
                  <a:srgbClr val="7030A0"/>
                </a:solidFill>
              </a:rPr>
              <a:t> Years </a:t>
            </a:r>
            <a:r>
              <a:rPr lang="en-US" altLang="en-US" dirty="0" err="1" smtClean="0">
                <a:solidFill>
                  <a:srgbClr val="7030A0"/>
                </a:solidFill>
              </a:rPr>
              <a:t>CodePro</a:t>
            </a:r>
            <a:r>
              <a:rPr lang="en-US" altLang="en-US" dirty="0" smtClean="0"/>
              <a:t>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/>
              <a:t>Years of professional coding </a:t>
            </a:r>
            <a:r>
              <a:rPr lang="en-US" altLang="en-US" dirty="0" smtClean="0"/>
              <a:t>experience</a:t>
            </a:r>
            <a:endParaRPr lang="en-US" alt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59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5"/>
                </a:solidFill>
              </a:rPr>
              <a:t>Employment Details: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410691"/>
            <a:ext cx="9601196" cy="3786909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>
                <a:solidFill>
                  <a:srgbClr val="7030A0"/>
                </a:solidFill>
              </a:rPr>
              <a:t>Employment:</a:t>
            </a:r>
            <a:r>
              <a:rPr lang="en-US" sz="3400" dirty="0">
                <a:solidFill>
                  <a:srgbClr val="7030A0"/>
                </a:solidFill>
              </a:rPr>
              <a:t> </a:t>
            </a:r>
            <a:r>
              <a:rPr lang="en-IN" sz="9600" dirty="0"/>
              <a:t>Employment status of the candidates (example: currently working or unemployed</a:t>
            </a:r>
            <a:r>
              <a:rPr lang="en-IN" sz="9600" dirty="0" smtClean="0"/>
              <a:t>)</a:t>
            </a:r>
            <a:endParaRPr lang="en-US" sz="9600" dirty="0" smtClean="0"/>
          </a:p>
          <a:p>
            <a:r>
              <a:rPr lang="en-US" sz="9600" dirty="0" smtClean="0">
                <a:solidFill>
                  <a:srgbClr val="7030A0"/>
                </a:solidFill>
              </a:rPr>
              <a:t>Previous Salary</a:t>
            </a:r>
            <a:r>
              <a:rPr lang="en-US" sz="8000" dirty="0" smtClean="0">
                <a:solidFill>
                  <a:srgbClr val="7030A0"/>
                </a:solidFill>
              </a:rPr>
              <a:t>:</a:t>
            </a:r>
          </a:p>
          <a:p>
            <a:r>
              <a:rPr lang="en-IN" sz="8000" b="1" dirty="0" smtClean="0">
                <a:solidFill>
                  <a:srgbClr val="7030A0"/>
                </a:solidFill>
              </a:rPr>
              <a:t>Main Branch </a:t>
            </a:r>
            <a:r>
              <a:rPr lang="en-US" sz="8000" dirty="0" smtClean="0"/>
              <a:t>:Developer or Non Developer</a:t>
            </a:r>
          </a:p>
          <a:p>
            <a:r>
              <a:rPr lang="en-IN" sz="8600" b="1" dirty="0">
                <a:solidFill>
                  <a:schemeClr val="accent5"/>
                </a:solidFill>
              </a:rPr>
              <a:t>Technology &amp; Skills</a:t>
            </a:r>
            <a:r>
              <a:rPr lang="en-IN" sz="8600" dirty="0" smtClean="0"/>
              <a:t>:</a:t>
            </a:r>
          </a:p>
          <a:p>
            <a:r>
              <a:rPr lang="en-US" sz="8000" dirty="0" smtClean="0">
                <a:solidFill>
                  <a:srgbClr val="7030A0"/>
                </a:solidFill>
              </a:rPr>
              <a:t>Have Worked With:</a:t>
            </a:r>
          </a:p>
          <a:p>
            <a:pPr lvl="0"/>
            <a:r>
              <a:rPr lang="en-US" sz="2900" dirty="0"/>
              <a:t> </a:t>
            </a:r>
            <a:r>
              <a:rPr lang="en-US" sz="2900" dirty="0" smtClean="0"/>
              <a:t>    </a:t>
            </a:r>
            <a:r>
              <a:rPr lang="en-US" altLang="en-US" sz="7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Language Worked With</a:t>
            </a:r>
            <a:r>
              <a:rPr lang="en-US" altLang="en-US" sz="72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  <a:t> Programming languages used (e.g., Python, Java)</a:t>
            </a:r>
          </a:p>
          <a:p>
            <a:pPr lvl="0"/>
            <a:r>
              <a:rPr lang="en-US" sz="7200" dirty="0" smtClean="0"/>
              <a:t>   </a:t>
            </a:r>
            <a:r>
              <a:rPr lang="en-US" altLang="en-US" sz="7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Database Worked With</a:t>
            </a:r>
            <a:r>
              <a:rPr lang="en-US" altLang="en-US" sz="72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  <a:t> Databases used (e.g., MySQL, MongoDB)</a:t>
            </a:r>
          </a:p>
          <a:p>
            <a:pPr lvl="0"/>
            <a:r>
              <a:rPr lang="en-US" sz="7200" dirty="0" smtClean="0"/>
              <a:t>   </a:t>
            </a:r>
            <a:r>
              <a:rPr lang="en-US" altLang="en-US" sz="7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Platform Worked With</a:t>
            </a:r>
            <a:r>
              <a:rPr lang="en-US" altLang="en-US" sz="72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7200" dirty="0">
                <a:solidFill>
                  <a:schemeClr val="tx1"/>
                </a:solidFill>
                <a:latin typeface="Arial" panose="020B0604020202020204" pitchFamily="34" charset="0"/>
              </a:rPr>
              <a:t> Platforms used (e.g., Windows, Linux, AWS)</a:t>
            </a:r>
          </a:p>
          <a:p>
            <a:r>
              <a:rPr lang="en-US" sz="9600" dirty="0" smtClean="0">
                <a:solidFill>
                  <a:srgbClr val="7030A0"/>
                </a:solidFill>
              </a:rPr>
              <a:t>Computer Skills </a:t>
            </a:r>
            <a:r>
              <a:rPr lang="en-US" sz="9600" dirty="0" smtClean="0">
                <a:solidFill>
                  <a:srgbClr val="7030A0"/>
                </a:solidFill>
              </a:rPr>
              <a:t>: </a:t>
            </a:r>
            <a:r>
              <a:rPr lang="en-IN" sz="9600" dirty="0"/>
              <a:t>Technical abilities of the candidates.</a:t>
            </a:r>
            <a:endParaRPr lang="en-US" sz="9600" dirty="0" smtClean="0">
              <a:solidFill>
                <a:srgbClr val="7030A0"/>
              </a:solidFill>
            </a:endParaRPr>
          </a:p>
          <a:p>
            <a:endParaRPr lang="en-IN" sz="9600" dirty="0" smtClean="0">
              <a:solidFill>
                <a:srgbClr val="7030A0"/>
              </a:solidFill>
            </a:endParaRP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1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/>
                </a:solidFill>
              </a:rPr>
              <a:t>Data </a:t>
            </a:r>
            <a:r>
              <a:rPr lang="en-IN" dirty="0" err="1">
                <a:solidFill>
                  <a:schemeClr val="accent5"/>
                </a:solidFill>
              </a:rPr>
              <a:t>Preprocessing</a:t>
            </a:r>
            <a:r>
              <a:rPr lang="en-IN" dirty="0">
                <a:solidFill>
                  <a:schemeClr val="accent5"/>
                </a:solidFill>
              </a:rPr>
              <a:t>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/>
              <a:t> </a:t>
            </a:r>
            <a:r>
              <a:rPr lang="en-IN" sz="2800" dirty="0">
                <a:solidFill>
                  <a:srgbClr val="7030A0"/>
                </a:solidFill>
              </a:rPr>
              <a:t>Handling </a:t>
            </a:r>
            <a:r>
              <a:rPr lang="en-IN" sz="2800" dirty="0" smtClean="0">
                <a:solidFill>
                  <a:srgbClr val="7030A0"/>
                </a:solidFill>
              </a:rPr>
              <a:t>Outliers: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 </a:t>
            </a:r>
            <a:r>
              <a:rPr lang="en-US" sz="2800" dirty="0" smtClean="0">
                <a:solidFill>
                  <a:srgbClr val="7030A0"/>
                </a:solidFill>
              </a:rPr>
              <a:t> </a:t>
            </a:r>
            <a:r>
              <a:rPr lang="en-US" altLang="en-US" sz="2800" dirty="0"/>
              <a:t>Used for </a:t>
            </a:r>
            <a:r>
              <a:rPr lang="en-US" altLang="en-US" sz="2800" dirty="0" smtClean="0"/>
              <a:t>Previous salary </a:t>
            </a:r>
            <a:r>
              <a:rPr lang="en-US" altLang="en-US" sz="2800" dirty="0"/>
              <a:t>,</a:t>
            </a:r>
            <a:r>
              <a:rPr lang="en-US" altLang="en-US" sz="2800" dirty="0" smtClean="0"/>
              <a:t>Years Code </a:t>
            </a:r>
            <a:r>
              <a:rPr lang="en-US" altLang="en-US" sz="2800" dirty="0"/>
              <a:t>,</a:t>
            </a:r>
            <a:r>
              <a:rPr lang="en-US" altLang="en-US" sz="2800" dirty="0" smtClean="0"/>
              <a:t>Years Code Pro </a:t>
            </a:r>
            <a:r>
              <a:rPr lang="en-US" altLang="en-US" sz="2800" dirty="0"/>
              <a:t>and </a:t>
            </a:r>
            <a:r>
              <a:rPr lang="en-US" altLang="en-US" sz="2800" dirty="0" smtClean="0"/>
              <a:t>Computer Skills </a:t>
            </a:r>
            <a:r>
              <a:rPr lang="en-US" altLang="en-US" sz="2800" dirty="0"/>
              <a:t>where </a:t>
            </a:r>
            <a:r>
              <a:rPr lang="en-US" altLang="en-US" sz="2800" dirty="0" smtClean="0"/>
              <a:t>extremely </a:t>
            </a:r>
            <a:r>
              <a:rPr lang="en-US" altLang="en-US" sz="2800" dirty="0"/>
              <a:t>high values were observed</a:t>
            </a:r>
            <a:r>
              <a:rPr lang="en-US" altLang="en-US" sz="2800" dirty="0" smtClean="0"/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/>
              <a:t>Instead of removing outliers, extreme values were replaced with the </a:t>
            </a:r>
            <a:r>
              <a:rPr lang="en-US" altLang="en-US" sz="2800" dirty="0" smtClean="0"/>
              <a:t>95th </a:t>
            </a:r>
            <a:r>
              <a:rPr lang="en-US" altLang="en-US" sz="2800" dirty="0"/>
              <a:t>percentile (upper bound) and </a:t>
            </a:r>
            <a:r>
              <a:rPr lang="en-US" altLang="en-US" sz="2800" dirty="0" smtClean="0"/>
              <a:t>5st </a:t>
            </a:r>
            <a:r>
              <a:rPr lang="en-US" altLang="en-US" sz="2800" dirty="0"/>
              <a:t>percentile (lower bound).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030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Encoding Techniques </a:t>
            </a:r>
            <a:r>
              <a:rPr lang="en-IN" b="1" dirty="0" smtClean="0">
                <a:solidFill>
                  <a:schemeClr val="accent5"/>
                </a:solidFill>
              </a:rPr>
              <a:t>&amp; </a:t>
            </a:r>
            <a:r>
              <a:rPr lang="en-IN" b="1" dirty="0">
                <a:solidFill>
                  <a:schemeClr val="accent5"/>
                </a:solidFill>
              </a:rPr>
              <a:t>Scaling Technique Used</a:t>
            </a:r>
            <a:r>
              <a:rPr lang="en-IN" b="1" dirty="0"/>
              <a:t/>
            </a:r>
            <a:br>
              <a:rPr lang="en-IN" b="1" dirty="0"/>
            </a:b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Label </a:t>
            </a:r>
            <a:r>
              <a:rPr lang="en-IN" dirty="0" smtClean="0">
                <a:solidFill>
                  <a:srgbClr val="7030A0"/>
                </a:solidFill>
              </a:rPr>
              <a:t>Encoding: </a:t>
            </a:r>
            <a:r>
              <a:rPr lang="en-IN" dirty="0" smtClean="0">
                <a:solidFill>
                  <a:schemeClr val="tx1"/>
                </a:solidFill>
              </a:rPr>
              <a:t>Age , Gender,</a:t>
            </a:r>
            <a:r>
              <a:rPr lang="en-IN" b="1" dirty="0"/>
              <a:t> </a:t>
            </a:r>
            <a:r>
              <a:rPr lang="en-IN" dirty="0" smtClean="0"/>
              <a:t>Accessibility</a:t>
            </a:r>
            <a:r>
              <a:rPr lang="en-IN" dirty="0" smtClean="0">
                <a:solidFill>
                  <a:schemeClr val="tx1"/>
                </a:solidFill>
              </a:rPr>
              <a:t>,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Mental </a:t>
            </a:r>
            <a:r>
              <a:rPr lang="en-US" dirty="0" err="1" smtClean="0">
                <a:solidFill>
                  <a:schemeClr val="tx1"/>
                </a:solidFill>
              </a:rPr>
              <a:t>Health,MainBranch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Frequency Encoding </a:t>
            </a:r>
            <a:r>
              <a:rPr lang="en-US" dirty="0" smtClean="0">
                <a:solidFill>
                  <a:schemeClr val="tx1"/>
                </a:solidFill>
              </a:rPr>
              <a:t>: Country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Ordinary Encoding: </a:t>
            </a:r>
            <a:r>
              <a:rPr lang="en-US" dirty="0" smtClean="0">
                <a:solidFill>
                  <a:schemeClr val="tx1"/>
                </a:solidFill>
              </a:rPr>
              <a:t>Ed Level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One Hot Encoding </a:t>
            </a:r>
            <a:r>
              <a:rPr lang="en-US" dirty="0" smtClean="0">
                <a:solidFill>
                  <a:schemeClr val="tx1"/>
                </a:solidFill>
              </a:rPr>
              <a:t>:Have Worked With</a:t>
            </a:r>
          </a:p>
          <a:p>
            <a:r>
              <a:rPr lang="en-US" sz="3200" dirty="0" smtClean="0">
                <a:solidFill>
                  <a:srgbClr val="7030A0"/>
                </a:solidFill>
              </a:rPr>
              <a:t>Scaling:</a:t>
            </a:r>
          </a:p>
          <a:p>
            <a:r>
              <a:rPr lang="en-IN" sz="3200" dirty="0" smtClean="0">
                <a:solidFill>
                  <a:srgbClr val="7030A0"/>
                </a:solidFill>
              </a:rPr>
              <a:t>Min Max Scaler</a:t>
            </a:r>
            <a:r>
              <a:rPr lang="en-IN" sz="3200" dirty="0" smtClean="0"/>
              <a:t> </a:t>
            </a:r>
            <a:r>
              <a:rPr lang="en-IN" sz="3200" dirty="0"/>
              <a:t>(Scaling to [0,1</a:t>
            </a:r>
            <a:r>
              <a:rPr lang="en-IN" sz="3200" dirty="0" smtClean="0"/>
              <a:t>])</a:t>
            </a:r>
          </a:p>
          <a:p>
            <a:r>
              <a:rPr lang="en-IN" dirty="0"/>
              <a:t>Applied </a:t>
            </a:r>
            <a:r>
              <a:rPr lang="en-IN" sz="2600" dirty="0" smtClean="0"/>
              <a:t>to: Previous Salary, Computer Skills ,Years Code and Years Code Pro</a:t>
            </a:r>
          </a:p>
          <a:p>
            <a:r>
              <a:rPr lang="en-IN" sz="2200" dirty="0" smtClean="0"/>
              <a:t>X scaled ​=X-X min/(X max-X min)</a:t>
            </a:r>
            <a:endParaRPr lang="en-IN" sz="3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9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227693" cy="786707"/>
          </a:xfrm>
        </p:spPr>
        <p:txBody>
          <a:bodyPr/>
          <a:lstStyle/>
          <a:p>
            <a:r>
              <a:rPr lang="en-IN" dirty="0"/>
              <a:t>Count plot of Target column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708" y="1842730"/>
            <a:ext cx="7315200" cy="439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6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92850"/>
          </a:xfrm>
        </p:spPr>
        <p:txBody>
          <a:bodyPr/>
          <a:lstStyle/>
          <a:p>
            <a:r>
              <a:rPr lang="en-IN" b="1" dirty="0"/>
              <a:t> FEATURE IMPORTANCE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1" y="2087419"/>
            <a:ext cx="11129817" cy="42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2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36" y="1357745"/>
            <a:ext cx="9596582" cy="47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4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/>
                </a:solidFill>
              </a:rPr>
              <a:t>Machine Learning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Logistic </a:t>
            </a:r>
            <a:r>
              <a:rPr lang="en-IN" dirty="0" smtClean="0"/>
              <a:t>Regression</a:t>
            </a:r>
          </a:p>
          <a:p>
            <a:r>
              <a:rPr lang="en-IN" dirty="0"/>
              <a:t>Random Forest </a:t>
            </a:r>
            <a:r>
              <a:rPr lang="en-IN" dirty="0" smtClean="0"/>
              <a:t>Classifier</a:t>
            </a:r>
          </a:p>
          <a:p>
            <a:r>
              <a:rPr lang="en-IN" dirty="0"/>
              <a:t>Decision Tree </a:t>
            </a:r>
            <a:r>
              <a:rPr lang="en-IN" dirty="0" smtClean="0"/>
              <a:t>Classifier</a:t>
            </a:r>
          </a:p>
          <a:p>
            <a:r>
              <a:rPr lang="en-IN" dirty="0" smtClean="0">
                <a:solidFill>
                  <a:srgbClr val="002060"/>
                </a:solidFill>
              </a:rPr>
              <a:t>XG Boost </a:t>
            </a:r>
            <a:r>
              <a:rPr lang="en-IN" dirty="0">
                <a:solidFill>
                  <a:srgbClr val="002060"/>
                </a:solidFill>
              </a:rPr>
              <a:t>Classifier (Final Model</a:t>
            </a:r>
            <a:r>
              <a:rPr lang="en-IN" dirty="0" smtClean="0">
                <a:solidFill>
                  <a:srgbClr val="002060"/>
                </a:solidFill>
              </a:rPr>
              <a:t>):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                   </a:t>
            </a:r>
            <a:r>
              <a:rPr lang="en-US" sz="2800" dirty="0"/>
              <a:t>Best performance in terms of accuracy and generalization</a:t>
            </a:r>
            <a:endParaRPr lang="en-IN" sz="2800" dirty="0" smtClean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77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/>
                </a:solidFill>
              </a:rPr>
              <a:t>Summary of Findings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7619" y="2812798"/>
            <a:ext cx="1066727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Factors like </a:t>
            </a:r>
            <a:r>
              <a:rPr lang="en-US" b="1" dirty="0"/>
              <a:t>education level, years of experience, and </a:t>
            </a:r>
            <a:r>
              <a:rPr lang="en-US" b="1" dirty="0" smtClean="0"/>
              <a:t>country and </a:t>
            </a:r>
            <a:r>
              <a:rPr lang="en-US" b="1" dirty="0" err="1" smtClean="0"/>
              <a:t>PreviousSalary</a:t>
            </a: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 smtClean="0"/>
              <a:t>Significantly impact </a:t>
            </a:r>
            <a:r>
              <a:rPr lang="en-US" dirty="0"/>
              <a:t>employment status</a:t>
            </a:r>
            <a:r>
              <a:rPr lang="en-US" sz="18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 smtClean="0"/>
              <a:t>Candidates with </a:t>
            </a:r>
            <a:r>
              <a:rPr lang="en-US" b="1" dirty="0" smtClean="0"/>
              <a:t>higher </a:t>
            </a:r>
            <a:r>
              <a:rPr lang="en-US" b="1" dirty="0" err="1" smtClean="0"/>
              <a:t>ComputerSkills</a:t>
            </a:r>
            <a:r>
              <a:rPr lang="en-US" b="1" dirty="0"/>
              <a:t> </a:t>
            </a:r>
            <a:r>
              <a:rPr lang="en-US" b="1" dirty="0" smtClean="0"/>
              <a:t>and </a:t>
            </a:r>
            <a:r>
              <a:rPr lang="en-US" b="1" dirty="0"/>
              <a:t>higher education</a:t>
            </a:r>
            <a:r>
              <a:rPr lang="en-US" dirty="0"/>
              <a:t> </a:t>
            </a:r>
            <a:r>
              <a:rPr lang="en-US" dirty="0" smtClean="0"/>
              <a:t>tend </a:t>
            </a:r>
            <a:r>
              <a:rPr lang="en-US" dirty="0"/>
              <a:t>to have a </a:t>
            </a: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 smtClean="0"/>
              <a:t>higher </a:t>
            </a:r>
            <a:r>
              <a:rPr lang="en-US" dirty="0"/>
              <a:t>probability of employment</a:t>
            </a:r>
            <a:r>
              <a:rPr lang="en-US" sz="1800" dirty="0" smtClean="0"/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Certain programming languages and technologies are in higher demand than others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8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142</TotalTime>
  <Words>427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Employment Prediction DataSet</vt:lpstr>
      <vt:lpstr>Dataset Overview</vt:lpstr>
      <vt:lpstr>Key Features in the Dataset</vt:lpstr>
      <vt:lpstr>Employment Details:</vt:lpstr>
      <vt:lpstr>Data Preprocessing Techniques</vt:lpstr>
      <vt:lpstr>Encoding Techniques &amp; Scaling Technique Used </vt:lpstr>
      <vt:lpstr>Count plot of Target column</vt:lpstr>
      <vt:lpstr> FEATURE IMPORTANCE</vt:lpstr>
      <vt:lpstr>PowerPoint Presentation</vt:lpstr>
      <vt:lpstr>Machine Learning Models Used</vt:lpstr>
      <vt:lpstr>Summary of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Overflow Developer Survey Dataset</dc:title>
  <dc:creator>Hp</dc:creator>
  <cp:lastModifiedBy>Hp</cp:lastModifiedBy>
  <cp:revision>16</cp:revision>
  <dcterms:created xsi:type="dcterms:W3CDTF">2025-03-26T11:37:40Z</dcterms:created>
  <dcterms:modified xsi:type="dcterms:W3CDTF">2025-06-21T16:42:35Z</dcterms:modified>
</cp:coreProperties>
</file>